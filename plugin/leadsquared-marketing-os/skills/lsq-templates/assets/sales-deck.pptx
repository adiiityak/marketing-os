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Personalize: prospect name, outcome in their words, attendees. Keep the master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verbatim quotes from lsq-demo-intelligence-agent output for this prospect. Never paraphrase into marketing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[V] claims from the claims ledger. Prefer proof from the same industry and size as the prospect.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011680" cy="3704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331720"/>
            <a:ext cx="822960" cy="73152"/>
          </a:xfrm>
          <a:prstGeom prst="rect">
            <a:avLst/>
          </a:prstGeom>
          <a:solidFill>
            <a:srgbClr val="10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[How [Prospect] can [achieve outcome] with LeadSquared]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348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2E3"/>
                </a:solidFill>
                <a:latin typeface="Arial"/>
              </a:rPr>
              <a:t>[Prepared for: Name, Title, Prospect]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[Presenter name] · [Month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6DFD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0F49"/>
                </a:solidFill>
                <a:latin typeface="Arial"/>
              </a:rPr>
              <a:t>What we will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165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165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6DFD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70F49"/>
                </a:solidFill>
                <a:latin typeface="Arial"/>
              </a:rPr>
              <a:t>What we heard from your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6DFD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70F49"/>
                </a:solidFill>
                <a:latin typeface="Arial"/>
              </a:rPr>
              <a:t>Where the gaps are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977640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6DFD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70F49"/>
                </a:solidFill>
                <a:latin typeface="Arial"/>
              </a:rPr>
              <a:t>How LeadSquared closes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663440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6DFD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70F49"/>
                </a:solidFill>
                <a:latin typeface="Arial"/>
              </a:rPr>
              <a:t>Results from teams like yours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349240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6DFD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70F49"/>
                </a:solidFill>
                <a:latin typeface="Arial"/>
              </a:rPr>
              <a:t>Proposed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6DFD"/>
                </a:solidFill>
                <a:latin typeface="Arial"/>
              </a:rPr>
              <a:t>WHAT WE HEARD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0F49"/>
                </a:solidFill>
                <a:latin typeface="Arial"/>
              </a:rPr>
              <a:t>[Your team in your words]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165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165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E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"[Verbatim pain from discovery or the demo transcript]"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B5165"/>
                </a:solidFill>
                <a:latin typeface="Arial"/>
              </a:rPr>
              <a:t>[Name, role]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74320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E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301752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"[Verbatim pain from discovery or the demo transcript]"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51206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B5165"/>
                </a:solidFill>
                <a:latin typeface="Arial"/>
              </a:rPr>
              <a:t>[Name, role]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74320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E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301752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"[Verbatim pain from discovery or the demo transcript]"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51206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B5165"/>
                </a:solidFill>
                <a:latin typeface="Arial"/>
              </a:rPr>
              <a:t>[Name, role]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6DFD"/>
                </a:solidFill>
                <a:latin typeface="Arial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0F49"/>
                </a:solidFill>
                <a:latin typeface="Arial"/>
              </a:rPr>
              <a:t>[Where leads and revenue slip today]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165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165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[Stage]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Arial"/>
              </a:rPr>
              <a:t>[What breaks and what it costs]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[Stage]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61188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Arial"/>
              </a:rPr>
              <a:t>[What breaks and what it costs]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[Stage]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Arial"/>
              </a:rPr>
              <a:t>[What breaks and what it costs]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[Stage]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49240"/>
            <a:ext cx="7680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Arial"/>
              </a:rPr>
              <a:t>[What breaks and what it costs]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6DFD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0F49"/>
                </a:solidFill>
                <a:latin typeface="Arial"/>
              </a:rPr>
              <a:t>[How LeadSquared closes the gap]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165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165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E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06DFD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0F49"/>
                </a:solidFill>
                <a:latin typeface="Arial"/>
              </a:rPr>
              <a:t>[Capability as an outcome]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B5165"/>
                </a:solidFill>
                <a:latin typeface="Arial"/>
              </a:rPr>
              <a:t>[How it works for this prospect, one or two sentences]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74320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19" y="306324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E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3063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06DFD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8404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0F49"/>
                </a:solidFill>
                <a:latin typeface="Arial"/>
              </a:rPr>
              <a:t>[Capability as an outcome]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45720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B5165"/>
                </a:solidFill>
                <a:latin typeface="Arial"/>
              </a:rPr>
              <a:t>[How it works for this prospect, one or two sentences]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74320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59" y="3063240"/>
            <a:ext cx="548640" cy="548640"/>
          </a:xfrm>
          <a:prstGeom prst="roundRect">
            <a:avLst>
              <a:gd name="adj" fmla="val 6000"/>
            </a:avLst>
          </a:prstGeom>
          <a:solidFill>
            <a:srgbClr val="E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3063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06DFD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38404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0F49"/>
                </a:solidFill>
                <a:latin typeface="Arial"/>
              </a:rPr>
              <a:t>[Capability as an outcome]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45720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B5165"/>
                </a:solidFill>
                <a:latin typeface="Arial"/>
              </a:rPr>
              <a:t>[How it works for this prospect, one or two sentences]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6DFD"/>
                </a:solidFill>
                <a:latin typeface="Arial"/>
              </a:rPr>
              <a:t>IN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0F49"/>
                </a:solidFill>
                <a:latin typeface="Arial"/>
              </a:rPr>
              <a:t>[What your counselors or agents will see]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165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165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1064240" cy="3566160"/>
          </a:xfrm>
          <a:prstGeom prst="roundRect">
            <a:avLst>
              <a:gd name="adj" fmla="val 6000"/>
            </a:avLst>
          </a:prstGeom>
          <a:solidFill>
            <a:srgbClr val="E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64240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4B5165"/>
                </a:solidFill>
                <a:latin typeface="Arial"/>
              </a:rPr>
              <a:t>[Real product screenshot, configured for this prospect if possible]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6DFD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0F49"/>
                </a:solidFill>
                <a:latin typeface="Arial"/>
              </a:rPr>
              <a:t>[What changes for teams like yours]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165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165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70F49"/>
                </a:solidFill>
                <a:latin typeface="Arial"/>
              </a:rPr>
              <a:t>[00%]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Arial"/>
              </a:rPr>
              <a:t>[What the number measures]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165"/>
                </a:solidFill>
                <a:latin typeface="Arial"/>
              </a:rPr>
              <a:t>[Customer, [V] source]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74320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70F49"/>
                </a:solidFill>
                <a:latin typeface="Arial"/>
              </a:rPr>
              <a:t>[00%]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40690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Arial"/>
              </a:rPr>
              <a:t>[What the number measures]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46177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165"/>
                </a:solidFill>
                <a:latin typeface="Arial"/>
              </a:rPr>
              <a:t>[Customer, [V] source]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74320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70F49"/>
                </a:solidFill>
                <a:latin typeface="Arial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40690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Arial"/>
              </a:rPr>
              <a:t>[What the number measures]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46177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165"/>
                </a:solidFill>
                <a:latin typeface="Arial"/>
              </a:rPr>
              <a:t>[Customer, [V] source]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011680"/>
            <a:ext cx="73152" cy="2377440"/>
          </a:xfrm>
          <a:prstGeom prst="rect">
            <a:avLst/>
          </a:prstGeom>
          <a:solidFill>
            <a:srgbClr val="10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"[Approved customer quote from a similar organization. Never invented.]"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D2E3"/>
                </a:solidFill>
                <a:latin typeface="Arial"/>
              </a:rPr>
              <a:t>[Name], [Title], [Customer]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188720" cy="2189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6DF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70F49"/>
                </a:solidFill>
                <a:latin typeface="Arial"/>
              </a:rPr>
              <a:t>[Proposed plan]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165"/>
                </a:solidFill>
                <a:latin typeface="Arial"/>
              </a:rPr>
              <a:t>[Prospect name] · [Month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4B5165"/>
                </a:solidFill>
                <a:latin typeface="Arial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2606040" cy="73152"/>
          </a:xfrm>
          <a:prstGeom prst="rect">
            <a:avLst/>
          </a:prstGeom>
          <a:solidFill>
            <a:srgbClr val="10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[Week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B5165"/>
                </a:solidFill>
                <a:latin typeface="Arial"/>
              </a:rPr>
              <a:t>[Step, owner]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834640"/>
            <a:ext cx="2606040" cy="73152"/>
          </a:xfrm>
          <a:prstGeom prst="rect">
            <a:avLst/>
          </a:prstGeom>
          <a:solidFill>
            <a:srgbClr val="10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3108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[Week 2 to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361188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B5165"/>
                </a:solidFill>
                <a:latin typeface="Arial"/>
              </a:rPr>
              <a:t>[Step, owner]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834640"/>
            <a:ext cx="2606040" cy="73152"/>
          </a:xfrm>
          <a:prstGeom prst="rect">
            <a:avLst/>
          </a:prstGeom>
          <a:solidFill>
            <a:srgbClr val="106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3108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[Week 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361188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B5165"/>
                </a:solidFill>
                <a:latin typeface="Arial"/>
              </a:rPr>
              <a:t>[Step, owner]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2834640"/>
            <a:ext cx="2606040" cy="73152"/>
          </a:xfrm>
          <a:prstGeom prst="rect">
            <a:avLst/>
          </a:prstGeom>
          <a:solidFill>
            <a:srgbClr val="004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3108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70F49"/>
                </a:solidFill>
                <a:latin typeface="Arial"/>
              </a:rPr>
              <a:t>[Go live]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3611880"/>
            <a:ext cx="2560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B5165"/>
                </a:solidFill>
                <a:latin typeface="Arial"/>
              </a:rPr>
              <a:t>[Date]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B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011680" cy="3704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2E3"/>
                </a:solidFill>
                <a:latin typeface="Arial"/>
              </a:rPr>
              <a:t>[Presenter name], [Title]</a:t>
            </a:r>
          </a:p>
          <a:p>
            <a:pPr algn="l"/>
            <a:r>
              <a:rPr sz="1800" b="0">
                <a:solidFill>
                  <a:srgbClr val="C9D2E3"/>
                </a:solidFill>
                <a:latin typeface="Arial"/>
              </a:rPr>
              <a:t>[email] · leadsquared.com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